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media1.mp4" ContentType="video/unknown"/>
  <Override PartName="/ppt/media/media2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23558499" y="1246072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rved, white arches on a gray reflective floor"/>
          <p:cNvSpPr/>
          <p:nvPr>
            <p:ph type="pic" idx="21"/>
          </p:nvPr>
        </p:nvSpPr>
        <p:spPr>
          <a:xfrm>
            <a:off x="-76200" y="-558800"/>
            <a:ext cx="24574500" cy="148395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ow angle view of a tall building with mirrored glass windows"/>
          <p:cNvSpPr/>
          <p:nvPr>
            <p:ph type="pic" idx="21"/>
          </p:nvPr>
        </p:nvSpPr>
        <p:spPr>
          <a:xfrm>
            <a:off x="8140700" y="-1"/>
            <a:ext cx="205740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artial view of a ceiling with wood paneling"/>
          <p:cNvSpPr/>
          <p:nvPr>
            <p:ph type="pic" idx="21"/>
          </p:nvPr>
        </p:nvSpPr>
        <p:spPr>
          <a:xfrm>
            <a:off x="9588500" y="-482600"/>
            <a:ext cx="21513800" cy="1430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orridor of an open-air stone building under a pink and purple sky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lack and white close-up of a curved roof"/>
          <p:cNvSpPr/>
          <p:nvPr>
            <p:ph type="pic" sz="half" idx="22"/>
          </p:nvPr>
        </p:nvSpPr>
        <p:spPr>
          <a:xfrm>
            <a:off x="6577500" y="3632200"/>
            <a:ext cx="11228999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Low angle view of a metal spiral staircase"/>
          <p:cNvSpPr/>
          <p:nvPr>
            <p:ph type="pic" sz="quarter" idx="23"/>
          </p:nvPr>
        </p:nvSpPr>
        <p:spPr>
          <a:xfrm>
            <a:off x="146431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uturistic, white corridor with shadows"/>
          <p:cNvSpPr/>
          <p:nvPr>
            <p:ph type="pic" idx="21"/>
          </p:nvPr>
        </p:nvSpPr>
        <p:spPr>
          <a:xfrm>
            <a:off x="-38100" y="-520700"/>
            <a:ext cx="24447500" cy="147633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3" Type="http://schemas.microsoft.com/office/2007/relationships/media" Target="../media/media1.mp4"/><Relationship Id="rId4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video" Target="../media/media2.mp4"/><Relationship Id="rId3" Type="http://schemas.microsoft.com/office/2007/relationships/media" Target="../media/media2.mp4"/><Relationship Id="rId4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Daniel Haim Breger, January 28th 2026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Daniel Haim Breger, January 28th 2026</a:t>
            </a:r>
          </a:p>
        </p:txBody>
      </p:sp>
      <p:sp>
        <p:nvSpPr>
          <p:cNvPr id="172" name="Brieuc Benvegnen et al. (2023)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Brieuc Benvegnen et al. (2023)</a:t>
            </a:r>
          </a:p>
        </p:txBody>
      </p:sp>
      <p:sp>
        <p:nvSpPr>
          <p:cNvPr id="173" name="Metastability of Discrete-Symmetry Flock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Metastability of Discrete-Symmetry Flocks</a:t>
            </a:r>
          </a:p>
        </p:txBody>
      </p:sp>
      <p:pic>
        <p:nvPicPr>
          <p:cNvPr id="174" name="Screenshot 2026-01-22 at 18.11.55.png" descr="Screenshot 2026-01-22 at 18.11.5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479724" y="7318374"/>
            <a:ext cx="12494390" cy="5034539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Slide Number"/>
          <p:cNvSpPr txBox="1"/>
          <p:nvPr>
            <p:ph type="sldNum" sz="quarter" idx="4294967295"/>
          </p:nvPr>
        </p:nvSpPr>
        <p:spPr>
          <a:xfrm>
            <a:off x="23731473" y="12460720"/>
            <a:ext cx="21564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Backgroun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Background</a:t>
            </a:r>
          </a:p>
        </p:txBody>
      </p:sp>
      <p:sp>
        <p:nvSpPr>
          <p:cNvPr id="179" name="Equilibrium ordered phase is expected to be stable in   (Mermin-Wagner)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t>Equilibrium ordered phase is expected to be stable in </a:t>
            </a:r>
            <a14:m>
              <m:oMath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&gt;</m:t>
                </m:r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 (Mermin-Wagner).</a:t>
            </a:r>
          </a:p>
          <a:p>
            <a:pPr lvl="2"/>
            <a:r>
              <a:t>Finite perturbations expected to shrink</a:t>
            </a:r>
          </a:p>
          <a:p>
            <a:pPr lvl="1"/>
            <a:r>
              <a:t>Recent results questioned this:</a:t>
            </a:r>
          </a:p>
          <a:p>
            <a:pPr lvl="2"/>
            <a:r>
              <a:t>Small obstacle can break the order in noisy system</a:t>
            </a:r>
          </a:p>
          <a:p>
            <a:pPr lvl="2"/>
            <a:r>
              <a:t>Constant-density flocks are metastable to spontaneous nucleation</a:t>
            </a:r>
          </a:p>
        </p:txBody>
      </p:sp>
      <p:sp>
        <p:nvSpPr>
          <p:cNvPr id="180" name="Slide Number"/>
          <p:cNvSpPr txBox="1"/>
          <p:nvPr>
            <p:ph type="sldNum" sz="quarter" idx="4294967295"/>
          </p:nvPr>
        </p:nvSpPr>
        <p:spPr>
          <a:xfrm>
            <a:off x="23692103" y="12458699"/>
            <a:ext cx="2550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" name="In This Pap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In This Paper</a:t>
            </a:r>
          </a:p>
        </p:txBody>
      </p:sp>
      <p:sp>
        <p:nvSpPr>
          <p:cNvPr id="184" name="Can a flocking transition be induced for any system size? Ye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t>Can a flocking transition be induced for any system size? Yes.</a:t>
            </a:r>
          </a:p>
          <a:p>
            <a:pPr/>
            <a:r>
              <a:rPr b="1">
                <a:latin typeface="Graphik"/>
                <a:ea typeface="Graphik"/>
                <a:cs typeface="Graphik"/>
                <a:sym typeface="Graphik"/>
              </a:rPr>
              <a:t>Can this transition happen spontaneously?</a:t>
            </a:r>
            <a:r>
              <a:t>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Yes.</a:t>
            </a:r>
          </a:p>
          <a:p>
            <a:pPr/>
            <a:r>
              <a:t>Flocking scalar polar models of </a:t>
            </a:r>
            <a14:m>
              <m:oMath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≥</m:t>
                </m:r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2</m:t>
                </m:r>
              </m:oMath>
            </a14:m>
            <a:r>
              <a:t> shown to have metastable ordered phase</a:t>
            </a:r>
          </a:p>
          <a:p>
            <a:pPr lvl="1"/>
            <a:r>
              <a:t>Finite droplet of opposite polarization grows ballistically, taking over system</a:t>
            </a:r>
          </a:p>
          <a:p>
            <a:pPr/>
            <a:r>
              <a:t>Shown numerically and analytically</a:t>
            </a:r>
          </a:p>
        </p:txBody>
      </p:sp>
      <p:sp>
        <p:nvSpPr>
          <p:cNvPr id="185" name="Slide Number"/>
          <p:cNvSpPr txBox="1"/>
          <p:nvPr>
            <p:ph type="sldNum" sz="quarter" idx="4294967295"/>
          </p:nvPr>
        </p:nvSpPr>
        <p:spPr>
          <a:xfrm>
            <a:off x="23679403" y="12458699"/>
            <a:ext cx="2677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test" descr="test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3872495" y="2155229"/>
            <a:ext cx="9688391" cy="9405397"/>
          </a:xfrm>
          <a:prstGeom prst="rect">
            <a:avLst/>
          </a:prstGeom>
        </p:spPr>
      </p:pic>
      <p:sp>
        <p:nvSpPr>
          <p:cNvPr id="188" name="3D Ising Model Illustration. Zhang, Zhidong. (2025)"/>
          <p:cNvSpPr/>
          <p:nvPr/>
        </p:nvSpPr>
        <p:spPr>
          <a:xfrm>
            <a:off x="13872495" y="11662370"/>
            <a:ext cx="9688514" cy="492253"/>
          </a:xfrm>
          <a:prstGeom prst="roundRect">
            <a:avLst>
              <a:gd name="adj" fmla="val 0"/>
            </a:avLst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24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3D Ising Model Illustration. Zhang, Zhidong. (2025)</a:t>
            </a:r>
          </a:p>
        </p:txBody>
      </p:sp>
      <p:sp>
        <p:nvSpPr>
          <p:cNvPr id="189" name="Active Ising Model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Active Ising Model</a:t>
            </a:r>
          </a:p>
        </p:txBody>
      </p:sp>
      <p:sp>
        <p:nvSpPr>
          <p:cNvPr id="190" name="The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The Model</a:t>
            </a:r>
          </a:p>
        </p:txBody>
      </p:sp>
      <p:sp>
        <p:nvSpPr>
          <p:cNvPr id="191" name="spin:…"/>
          <p:cNvSpPr txBox="1"/>
          <p:nvPr>
            <p:ph type="body" sz="half" idx="1"/>
          </p:nvPr>
        </p:nvSpPr>
        <p:spPr>
          <a:xfrm>
            <a:off x="1206500" y="4248504"/>
            <a:ext cx="12549899" cy="8256012"/>
          </a:xfrm>
          <a:prstGeom prst="rect">
            <a:avLst/>
          </a:prstGeom>
        </p:spPr>
        <p:txBody>
          <a:bodyPr/>
          <a:lstStyle/>
          <a:p>
            <a:pPr/>
            <a:r>
              <a:t>spin: </a:t>
            </a:r>
            <a14:m>
              <m:oMath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±</m:t>
                </m:r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</a:p>
          <a:p>
            <a:pPr/>
            <a:r>
              <a:t>Position: </a:t>
            </a:r>
            <a14:m>
              <m:oMath>
                <m:sSub>
                  <m:e>
                    <m:limUpp>
                      <m:e>
                        <m:r>
                          <a:rPr xmlns:a="http://schemas.openxmlformats.org/drawingml/2006/main" sz="485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lim>
                        <m:r>
                          <a:rPr xmlns:a="http://schemas.openxmlformats.org/drawingml/2006/main" sz="485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⃗</m:t>
                        </m:r>
                      </m:lim>
                    </m:limUpp>
                  </m:e>
                  <m:sub>
                    <m:r>
                      <a:rPr xmlns:a="http://schemas.openxmlformats.org/drawingml/2006/main" sz="48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48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48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e>
                    <m:limUpp>
                      <m:e>
                        <m:r>
                          <a:rPr xmlns:a="http://schemas.openxmlformats.org/drawingml/2006/main" sz="485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lim>
                        <m:r>
                          <a:rPr xmlns:a="http://schemas.openxmlformats.org/drawingml/2006/main" sz="485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⃗</m:t>
                        </m:r>
                      </m:lim>
                    </m:limUpp>
                  </m:e>
                  <m:sub>
                    <m:r>
                      <a:rPr xmlns:a="http://schemas.openxmlformats.org/drawingml/2006/main" sz="48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s</m:t>
                </m:r>
                <m:limUpp>
                  <m:e>
                    <m:r>
                      <a:rPr xmlns:a="http://schemas.openxmlformats.org/drawingml/2006/main" sz="48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lim>
                    <m:r>
                      <a:rPr xmlns:a="http://schemas.openxmlformats.org/drawingml/2006/main" sz="48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̂</m:t>
                    </m:r>
                  </m:lim>
                </m:limUpp>
              </m:oMath>
            </a14:m>
            <a:r>
              <a:t> plus diffusion with rate </a:t>
            </a:r>
            <a14:m>
              <m:oMath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D</m:t>
                </m:r>
              </m:oMath>
            </a14:m>
          </a:p>
          <a:p>
            <a:pPr/>
            <a:r>
              <a:t>Occupancy at each site unrestricted</a:t>
            </a:r>
          </a:p>
          <a:p>
            <a:pPr/>
            <a:r>
              <a:t>On-site ferromagnetic spin flipping</a:t>
            </a:r>
          </a:p>
          <a:p>
            <a:pPr/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</m:e>
                    <m:sub>
                      <m:limUpp>
                        <m:e>
                          <m:r>
                            <a:rPr xmlns:a="http://schemas.openxmlformats.org/drawingml/2006/main" sz="485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lim>
                          <m:r>
                            <a:rPr xmlns:a="http://schemas.openxmlformats.org/drawingml/2006/main" sz="485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sub>
                  </m:sSub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=</m:t>
                  </m:r>
                  <m:sSubSup>
                    <m:e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limUpp>
                        <m:e>
                          <m:r>
                            <a:rPr xmlns:a="http://schemas.openxmlformats.org/drawingml/2006/main" sz="485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lim>
                          <m:r>
                            <a:rPr xmlns:a="http://schemas.openxmlformats.org/drawingml/2006/main" sz="485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sub>
                    <m:sup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sup>
                  </m:sSubSup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+</m:t>
                  </m:r>
                  <m:sSubSup>
                    <m:e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limUpp>
                        <m:e>
                          <m:r>
                            <a:rPr xmlns:a="http://schemas.openxmlformats.org/drawingml/2006/main" sz="485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lim>
                          <m:r>
                            <a:rPr xmlns:a="http://schemas.openxmlformats.org/drawingml/2006/main" sz="485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sub>
                    <m:sup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</m:sup>
                  </m:sSubSup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/>
                  </m:r>
                  <m:sSub>
                    <m:e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limUpp>
                        <m:e>
                          <m:r>
                            <a:rPr xmlns:a="http://schemas.openxmlformats.org/drawingml/2006/main" sz="485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lim>
                          <m:r>
                            <a:rPr xmlns:a="http://schemas.openxmlformats.org/drawingml/2006/main" sz="485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sub>
                  </m:sSub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=</m:t>
                  </m:r>
                  <m:sSubSup>
                    <m:e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limUpp>
                        <m:e>
                          <m:r>
                            <a:rPr xmlns:a="http://schemas.openxmlformats.org/drawingml/2006/main" sz="485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lim>
                          <m:r>
                            <a:rPr xmlns:a="http://schemas.openxmlformats.org/drawingml/2006/main" sz="485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sub>
                    <m:sup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sup>
                  </m:sSubSup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-</m:t>
                  </m:r>
                  <m:sSubSup>
                    <m:e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limUpp>
                        <m:e>
                          <m:r>
                            <a:rPr xmlns:a="http://schemas.openxmlformats.org/drawingml/2006/main" sz="485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lim>
                          <m:r>
                            <a:rPr xmlns:a="http://schemas.openxmlformats.org/drawingml/2006/main" sz="485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sub>
                    <m:sup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</m:sup>
                  </m:sSubSup>
                </m:oMath>
              </m:oMathPara>
            </a14:m>
            <a:endParaRPr>
              <a:solidFill>
                <a:srgbClr val="53585F"/>
              </a:solidFill>
            </a:endParaRPr>
          </a:p>
        </p:txBody>
      </p:sp>
      <p:sp>
        <p:nvSpPr>
          <p:cNvPr id="192" name="Slide Number"/>
          <p:cNvSpPr txBox="1"/>
          <p:nvPr>
            <p:ph type="sldNum" sz="quarter" idx="4294967295"/>
          </p:nvPr>
        </p:nvSpPr>
        <p:spPr>
          <a:xfrm>
            <a:off x="23676101" y="12458699"/>
            <a:ext cx="271019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In 2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In 2D</a:t>
            </a:r>
          </a:p>
        </p:txBody>
      </p:sp>
      <p:sp>
        <p:nvSpPr>
          <p:cNvPr id="195" name="Induced Transi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Induced Transition</a:t>
            </a:r>
          </a:p>
        </p:txBody>
      </p:sp>
      <p:pic>
        <p:nvPicPr>
          <p:cNvPr id="196" name="vid1_growth_v1_rho10.mp4" descr="vid1_growth_v1_rho10.mp4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-1538908" y="3627197"/>
            <a:ext cx="27461816" cy="6461606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Slide Number"/>
          <p:cNvSpPr txBox="1"/>
          <p:nvPr>
            <p:ph type="sldNum" sz="quarter" idx="4294967295"/>
          </p:nvPr>
        </p:nvSpPr>
        <p:spPr>
          <a:xfrm>
            <a:off x="23683721" y="12458699"/>
            <a:ext cx="263399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00" fill="hold"/>
                                        <p:tgtEl>
                                          <p:spTgt spid="19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96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196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9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Simulations of the 2D AIM. (a),(b) Snapshots of themagnetization field following the introduction in the orderedphase of a counterpropagating droplet at x ¼ y ¼ t ¼ 0 (r ¼ 10,ρ0d ¼ 5ρo), averaged over 100 runs. (c) Polarization (red) anddensity (black) p" descr="Simulations of the 2D AIM. (a),(b) Snapshots of themagnetization field following the introduction in the orderedphase of a counterpropagating droplet at x ¼ y ¼ t ¼ 0 (r ¼ 10,ρ0d ¼ 5ρo), averaged over 100 runs. (c) Polarization (red) anddensity (black) profiles at y ¼ 0 for the snapshot shown in (b).(d) Reversal probability PrðrÞ for ρ0d ¼ 1.2ρo. The dotted line is afit to a hyperbolic tangent used to extract rc. (e),(f) Variations ofrc with T and D. (g) Average nucleation time τd in a system ofsize L × L. Parameters: v ¼ 1; D ¼ 1 [except for (g) whereD ¼ 0.1]; ρo ¼ 10 (a)–(c), 5 (d)–(f), and 8 (g); β ¼ 2 [except for(f)]; ðLx; LyÞ¼ð8000; 800Þ in (a)–(c) and (200, 100) in (e),(f).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13918" y="292100"/>
            <a:ext cx="16929101" cy="13131800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Slide Number"/>
          <p:cNvSpPr txBox="1"/>
          <p:nvPr>
            <p:ph type="sldNum" sz="quarter" idx="4294967295"/>
          </p:nvPr>
        </p:nvSpPr>
        <p:spPr>
          <a:xfrm>
            <a:off x="23675593" y="12458699"/>
            <a:ext cx="27152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In 2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In 2D</a:t>
            </a:r>
          </a:p>
        </p:txBody>
      </p:sp>
      <p:sp>
        <p:nvSpPr>
          <p:cNvPr id="203" name="Spontaneous Transi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Spontaneous Transition</a:t>
            </a:r>
          </a:p>
        </p:txBody>
      </p:sp>
      <p:pic>
        <p:nvPicPr>
          <p:cNvPr id="204" name="vid2_spontaneous_v1_rho8 (1).mp4" descr="vid2_spontaneous_v1_rho8 (1).mp4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-1577900" y="3618023"/>
            <a:ext cx="27539800" cy="6479954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Slide Number"/>
          <p:cNvSpPr txBox="1"/>
          <p:nvPr>
            <p:ph type="sldNum" sz="quarter" idx="4294967295"/>
          </p:nvPr>
        </p:nvSpPr>
        <p:spPr>
          <a:xfrm>
            <a:off x="23699469" y="12458699"/>
            <a:ext cx="247651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50" fill="hold"/>
                                        <p:tgtEl>
                                          <p:spTgt spid="2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204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204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0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Not in detail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Not in detail</a:t>
            </a:r>
          </a:p>
        </p:txBody>
      </p:sp>
      <p:sp>
        <p:nvSpPr>
          <p:cNvPr id="208" name="Analytic Descrip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Analytic Description</a:t>
            </a:r>
          </a:p>
        </p:txBody>
      </p:sp>
      <p:sp>
        <p:nvSpPr>
          <p:cNvPr id="209" name="Hydrodynamic Equations defined for magnetization and density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Hydrodynamic Equations defined for magnetization and density</a:t>
            </a:r>
          </a:p>
          <a:p>
            <a:pPr marL="0" indent="0" algn="ctr">
              <a:buSzTx/>
              <a:buNone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</m:e>
                    <m:sub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ρ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v</m:t>
                  </m:r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</m:e>
                    <m:sub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∇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⋅</m:t>
                  </m:r>
                  <m:limUpp>
                    <m:e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e>
                    <m:lim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⃗</m:t>
                      </m:r>
                    </m:lim>
                  </m:limUpp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∇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ρ</m:t>
                  </m:r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</m:e>
                    <m:sub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v</m:t>
                  </m:r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∂</m:t>
                      </m:r>
                    </m:e>
                    <m:sub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ρ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∇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⋅</m:t>
                  </m:r>
                  <m:limUpp>
                    <m:e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e>
                    <m:lim>
                      <m:r>
                        <a:rPr xmlns:a="http://schemas.openxmlformats.org/drawingml/2006/main" sz="485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⃗</m:t>
                      </m:r>
                    </m:lim>
                  </m:limUpp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∇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ρ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50" i="1">
                      <a:solidFill>
                        <a:srgbClr val="52575F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  <a:p>
            <a:pPr/>
            <a:r>
              <a:t>Numerical integration gives solutions that fit simulations</a:t>
            </a:r>
          </a:p>
          <a:p>
            <a:pPr/>
            <a:r>
              <a:t>Three domain walls characterized by the above equations</a:t>
            </a:r>
          </a:p>
        </p:txBody>
      </p:sp>
      <p:sp>
        <p:nvSpPr>
          <p:cNvPr id="210" name="Slide Number"/>
          <p:cNvSpPr txBox="1"/>
          <p:nvPr>
            <p:ph type="sldNum" sz="quarter" idx="4294967295"/>
          </p:nvPr>
        </p:nvSpPr>
        <p:spPr>
          <a:xfrm>
            <a:off x="23678641" y="12458699"/>
            <a:ext cx="268479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Screenshot 2026-01-26 at 17.24.46.png" descr="Screenshot 2026-01-26 at 17.24.46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0" y="524018"/>
            <a:ext cx="24384000" cy="12667964"/>
          </a:xfrm>
          <a:prstGeom prst="rect">
            <a:avLst/>
          </a:prstGeom>
        </p:spPr>
      </p:pic>
      <p:sp>
        <p:nvSpPr>
          <p:cNvPr id="213" name="Slide Number"/>
          <p:cNvSpPr txBox="1"/>
          <p:nvPr>
            <p:ph type="sldNum" sz="quarter" idx="4294967295"/>
          </p:nvPr>
        </p:nvSpPr>
        <p:spPr>
          <a:xfrm>
            <a:off x="23675339" y="12458699"/>
            <a:ext cx="271781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6" name="Summary Of The Resul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Summary Of The Results</a:t>
            </a:r>
          </a:p>
        </p:txBody>
      </p:sp>
      <p:sp>
        <p:nvSpPr>
          <p:cNvPr id="217" name="The critical radiu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critical radius</a:t>
            </a:r>
          </a:p>
          <a:p>
            <a:pPr lvl="1"/>
            <a:r>
              <a:t>Independent of system size</a:t>
            </a:r>
          </a:p>
          <a:p>
            <a:pPr lvl="1"/>
            <a:r>
              <a:t>Shrinks with decreasing temperature</a:t>
            </a:r>
          </a:p>
          <a:p>
            <a:pPr lvl="1"/>
            <a:r>
              <a:t>linear with diffusion</a:t>
            </a:r>
          </a:p>
          <a:p>
            <a:pPr/>
            <a:r>
              <a:t>Spontaneous transition possible with low diffusion</a:t>
            </a:r>
          </a:p>
          <a:p>
            <a:pPr lvl="1"/>
            <a:r>
              <a:t>time to nucleation </a:t>
            </a:r>
            <a14:m>
              <m:oMath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τ</m:t>
                </m:r>
                <m:r>
                  <a:rPr xmlns:a="http://schemas.openxmlformats.org/drawingml/2006/main" sz="4850" i="1">
                    <a:solidFill>
                      <a:srgbClr val="52575F"/>
                    </a:solidFill>
                    <a:latin typeface="Cambria Math" panose="02040503050406030204" pitchFamily="18" charset="0"/>
                  </a:rPr>
                  <m:t>∼</m:t>
                </m:r>
                <m:sSup>
                  <m:e>
                    <m:r>
                      <a:rPr xmlns:a="http://schemas.openxmlformats.org/drawingml/2006/main" sz="48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p>
                    <m:r>
                      <a:rPr xmlns:a="http://schemas.openxmlformats.org/drawingml/2006/main" sz="48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48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endParaRPr>
              <a:solidFill>
                <a:srgbClr val="53585F"/>
              </a:solidFill>
            </a:endParaRPr>
          </a:p>
        </p:txBody>
      </p:sp>
      <p:sp>
        <p:nvSpPr>
          <p:cNvPr id="21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onclusion:…"/>
          <p:cNvSpPr txBox="1"/>
          <p:nvPr>
            <p:ph type="body" sz="half" idx="1"/>
          </p:nvPr>
        </p:nvSpPr>
        <p:spPr>
          <a:xfrm>
            <a:off x="1206500" y="4191000"/>
            <a:ext cx="21971000" cy="5334000"/>
          </a:xfrm>
          <a:prstGeom prst="rect">
            <a:avLst/>
          </a:prstGeom>
        </p:spPr>
        <p:txBody>
          <a:bodyPr/>
          <a:lstStyle/>
          <a:p>
            <a:pPr defTabSz="2267711">
              <a:defRPr spc="-111" sz="11160"/>
            </a:pPr>
            <a:r>
              <a:t>Conclusion:</a:t>
            </a:r>
          </a:p>
          <a:p>
            <a:pPr defTabSz="2267711">
              <a:defRPr spc="-111" sz="11160"/>
            </a:pPr>
            <a:r>
              <a:t>Flocking phase is metastable in thermodynamic limit.</a:t>
            </a:r>
          </a:p>
        </p:txBody>
      </p:sp>
      <p:sp>
        <p:nvSpPr>
          <p:cNvPr id="221" name="Slide Number"/>
          <p:cNvSpPr txBox="1"/>
          <p:nvPr>
            <p:ph type="sldNum" sz="quarter" idx="4294967295"/>
          </p:nvPr>
        </p:nvSpPr>
        <p:spPr>
          <a:xfrm>
            <a:off x="23630127" y="12458699"/>
            <a:ext cx="316993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Further Researc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Further Research</a:t>
            </a:r>
          </a:p>
        </p:txBody>
      </p:sp>
      <p:sp>
        <p:nvSpPr>
          <p:cNvPr id="225" name="More complex geometry &amp; movemen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More complex geometry &amp; movement</a:t>
            </a:r>
          </a:p>
          <a:p>
            <a:pPr/>
            <a:r>
              <a:t>Large systems</a:t>
            </a:r>
          </a:p>
          <a:p>
            <a:pPr lvl="1"/>
            <a:r>
              <a:t>Interplay of multiple nucleations</a:t>
            </a:r>
          </a:p>
          <a:p>
            <a:pPr/>
            <a:r>
              <a:t>Continuous symmetries</a:t>
            </a:r>
          </a:p>
          <a:p>
            <a:pPr lvl="1"/>
            <a:r>
              <a:t>Directional polarization? </a:t>
            </a:r>
          </a:p>
        </p:txBody>
      </p:sp>
      <p:sp>
        <p:nvSpPr>
          <p:cNvPr id="226" name="Slide Number"/>
          <p:cNvSpPr txBox="1"/>
          <p:nvPr>
            <p:ph type="sldNum" sz="quarter" idx="4294967295"/>
          </p:nvPr>
        </p:nvSpPr>
        <p:spPr>
          <a:xfrm>
            <a:off x="23590757" y="12458699"/>
            <a:ext cx="356363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hank you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</a:t>
            </a:r>
          </a:p>
        </p:txBody>
      </p:sp>
      <p:sp>
        <p:nvSpPr>
          <p:cNvPr id="229" name="Slide Number"/>
          <p:cNvSpPr txBox="1"/>
          <p:nvPr>
            <p:ph type="sldNum" sz="quarter" idx="4294967295"/>
          </p:nvPr>
        </p:nvSpPr>
        <p:spPr>
          <a:xfrm>
            <a:off x="23578057" y="12458699"/>
            <a:ext cx="369063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